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1675"/>
  <p:notesSz cx="6858000" cy="9144000"/>
  <p:embeddedFontLst>
    <p:embeddedFont>
      <p:font typeface="Old Standard TT"/>
      <p:regular r:id="rId10"/>
      <p:bold r:id="rId11"/>
      <p: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ldStandardTT-bold.fntdata"/><Relationship Id="rId10" Type="http://schemas.openxmlformats.org/officeDocument/2006/relationships/font" Target="fonts/OldStandardTT-regular.fntdata"/><Relationship Id="rId12" Type="http://schemas.openxmlformats.org/officeDocument/2006/relationships/font" Target="fonts/OldStandardTT-italic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33"/>
            <a:ext cx="12191700" cy="228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855889" y="4796667"/>
            <a:ext cx="5205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3582" y="2524400"/>
            <a:ext cx="10824600" cy="2030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3582" y="5120852"/>
            <a:ext cx="10824600" cy="105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855889" y="4796667"/>
            <a:ext cx="5205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683582" y="2524400"/>
            <a:ext cx="10824600" cy="2030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6727600"/>
            <a:ext cx="121917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15589" y="593367"/>
            <a:ext cx="11360400" cy="81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589" y="1562133"/>
            <a:ext cx="11360400" cy="452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589" y="593367"/>
            <a:ext cx="11360400" cy="81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589" y="1562233"/>
            <a:ext cx="5333100" cy="452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028" y="1562233"/>
            <a:ext cx="5333100" cy="452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589" y="593367"/>
            <a:ext cx="11360400" cy="81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589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49" y="701800"/>
            <a:ext cx="74718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5838" y="-33"/>
            <a:ext cx="6095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6706055" y="5994000"/>
            <a:ext cx="915300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353991" y="1843133"/>
            <a:ext cx="5393400" cy="177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353991" y="3692001"/>
            <a:ext cx="53934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6585824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15589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415589" y="1386200"/>
            <a:ext cx="11360400" cy="2808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415589" y="4304567"/>
            <a:ext cx="113604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7"/>
            <a:ext cx="113604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62133"/>
            <a:ext cx="113604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ld Standard TT"/>
              <a:buChar char="●"/>
              <a:defRPr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○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■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●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○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■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●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○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■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74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9052560" y="0"/>
            <a:ext cx="3200400" cy="6858000"/>
          </a:xfrm>
          <a:prstGeom prst="rect">
            <a:avLst/>
          </a:prstGeom>
          <a:solidFill>
            <a:srgbClr val="346EB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0058400" y="0"/>
            <a:ext cx="2194560" cy="6858000"/>
          </a:xfrm>
          <a:prstGeom prst="rect">
            <a:avLst/>
          </a:prstGeom>
          <a:solidFill>
            <a:srgbClr val="2396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0972800" y="0"/>
            <a:ext cx="1280160" cy="6858000"/>
          </a:xfrm>
          <a:prstGeom prst="rect">
            <a:avLst/>
          </a:prstGeom>
          <a:solidFill>
            <a:srgbClr val="EBB1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31520" y="1051560"/>
            <a:ext cx="80467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MOVIE INDUSTRY</a:t>
            </a:r>
            <a:b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EXPLORATORY ANALYSIS</a:t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77724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D5E3F1"/>
                </a:solidFill>
                <a:latin typeface="Arial"/>
                <a:ea typeface="Arial"/>
                <a:cs typeface="Arial"/>
                <a:sym typeface="Arial"/>
              </a:rPr>
              <a:t>IMDb database • Movies released 2010–2019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777240" y="342900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Focus: genre, audience ratings, and demand signals</a:t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777240" y="4892040"/>
            <a:ext cx="7040880" cy="731520"/>
          </a:xfrm>
          <a:prstGeom prst="roundRect">
            <a:avLst>
              <a:gd fmla="val 16667" name="adj"/>
            </a:avLst>
          </a:prstGeom>
          <a:solidFill>
            <a:srgbClr val="233957"/>
          </a:solidFill>
          <a:ln cap="flat" cmpd="sng" w="9525">
            <a:solidFill>
              <a:srgbClr val="465F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87552" y="5074920"/>
            <a:ext cx="6492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window: 1 Jan 2010 – 31 Dec 2019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1. Initial exploration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What the database can tell us — findings must be populated from the local im.db query results</a:t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594360" y="1243584"/>
            <a:ext cx="10972800" cy="41148"/>
          </a:xfrm>
          <a:prstGeom prst="rect">
            <a:avLst/>
          </a:prstGeom>
          <a:solidFill>
            <a:srgbClr val="2396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40075" y="1554475"/>
            <a:ext cx="3520500" cy="16530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640080" y="1554480"/>
            <a:ext cx="82296" cy="1417320"/>
          </a:xfrm>
          <a:prstGeom prst="rect">
            <a:avLst/>
          </a:prstGeom>
          <a:solidFill>
            <a:srgbClr val="2396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841247" y="1719072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841247" y="2121408"/>
            <a:ext cx="3136392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IMDb records for movies with start_year from 2010 through 2019. Exclude later years and nulls in fields used for each analysis.</a:t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4343400" y="1554474"/>
            <a:ext cx="3520500" cy="16530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343400" y="1554480"/>
            <a:ext cx="82296" cy="1417320"/>
          </a:xfrm>
          <a:prstGeom prst="rect">
            <a:avLst/>
          </a:prstGeom>
          <a:solidFill>
            <a:srgbClr val="346EB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4544568" y="1719072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Core fields to inspect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4544568" y="2121408"/>
            <a:ext cx="3136392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Movie title, release year, genres, runtime, average rating, and number of votes (confirm exact column names in schema_df).</a:t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8046725" y="1554474"/>
            <a:ext cx="3520500" cy="16530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8046720" y="1554480"/>
            <a:ext cx="82296" cy="1417320"/>
          </a:xfrm>
          <a:prstGeom prst="rect">
            <a:avLst/>
          </a:prstGeom>
          <a:solidFill>
            <a:srgbClr val="EBB1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8247888" y="1719072"/>
            <a:ext cx="3136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Initial questions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8247888" y="2121408"/>
            <a:ext cx="3136392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How many movies appear per year? Which genres are most common? How do ratings vary by genre and vote count?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731520" y="33375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Populate these evidence points after running the queries</a:t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31520" y="3886200"/>
            <a:ext cx="3429000" cy="1143000"/>
          </a:xfrm>
          <a:prstGeom prst="roundRect">
            <a:avLst>
              <a:gd fmla="val 16667" name="adj"/>
            </a:avLst>
          </a:prstGeom>
          <a:solidFill>
            <a:srgbClr val="DEEB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896112" y="40873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MOVIES IN SCOPE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896112" y="4407408"/>
            <a:ext cx="3108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62743"/>
                </a:solidFill>
              </a:rPr>
              <a:t>145,081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4480559" y="3886200"/>
            <a:ext cx="3429000" cy="1143000"/>
          </a:xfrm>
          <a:prstGeom prst="roundRect">
            <a:avLst>
              <a:gd fmla="val 16667" name="adj"/>
            </a:avLst>
          </a:prstGeom>
          <a:solidFill>
            <a:srgbClr val="DEEB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645151" y="40873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MOST COMMON GENRE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645151" y="4407408"/>
            <a:ext cx="3108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62743"/>
                </a:solidFill>
              </a:rPr>
              <a:t>Documentary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8229600" y="3886200"/>
            <a:ext cx="3429000" cy="1143000"/>
          </a:xfrm>
          <a:prstGeom prst="roundRect">
            <a:avLst>
              <a:gd fmla="val 16667" name="adj"/>
            </a:avLst>
          </a:prstGeom>
          <a:solidFill>
            <a:srgbClr val="DEEB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394192" y="40873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HIGHEST AVG. RATING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394192" y="4407408"/>
            <a:ext cx="3108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62743"/>
                </a:solidFill>
              </a:rPr>
              <a:t>Documentary - 7.3 rating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2. Business question &amp; visualization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Use the query output to turn a broad observation into an actionable question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94360" y="1243584"/>
            <a:ext cx="10972800" cy="41148"/>
          </a:xfrm>
          <a:prstGeom prst="rect">
            <a:avLst/>
          </a:prstGeom>
          <a:solidFill>
            <a:srgbClr val="2396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85800" y="1554474"/>
            <a:ext cx="4663500" cy="16917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85800" y="1554480"/>
            <a:ext cx="82296" cy="1325880"/>
          </a:xfrm>
          <a:prstGeom prst="rect">
            <a:avLst/>
          </a:prstGeom>
          <a:solidFill>
            <a:srgbClr val="2396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886968" y="1719072"/>
            <a:ext cx="4279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Business question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86968" y="2121408"/>
            <a:ext cx="4279392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Which genres had the highest average IMDb ratings from 2010–2019, and are those results supported by a sufficiently large number of audience votes?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94350" y="3383303"/>
            <a:ext cx="4663500" cy="16917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85850" y="3383290"/>
            <a:ext cx="82200" cy="1280100"/>
          </a:xfrm>
          <a:prstGeom prst="rect">
            <a:avLst/>
          </a:prstGeom>
          <a:solidFill>
            <a:srgbClr val="346EB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23606" y="3566232"/>
            <a:ext cx="42795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23600" y="3977697"/>
            <a:ext cx="42795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Studios can compare audience reception across genres while avoiding decisions based on a small number of rated titles.</a:t>
            </a:r>
            <a:endParaRPr sz="1500"/>
          </a:p>
        </p:txBody>
      </p:sp>
      <p:sp>
        <p:nvSpPr>
          <p:cNvPr id="115" name="Google Shape;115;p15"/>
          <p:cNvSpPr/>
          <p:nvPr/>
        </p:nvSpPr>
        <p:spPr>
          <a:xfrm>
            <a:off x="5669280" y="1554480"/>
            <a:ext cx="5669280" cy="4114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989320" y="17830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RECOMMENDED CHART: BAR CHART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400800" y="2514600"/>
            <a:ext cx="4297680" cy="2148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2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800974" y="3246125"/>
            <a:ext cx="508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A697D"/>
                </a:solidFill>
              </a:rPr>
              <a:t>Genre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138160" y="4828032"/>
            <a:ext cx="1097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00">
                <a:solidFill>
                  <a:srgbClr val="5A697D"/>
                </a:solidFill>
              </a:rPr>
              <a:t>Average rating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A697D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492253" y="2724900"/>
            <a:ext cx="9144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Documentary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269480" y="2743200"/>
            <a:ext cx="2651760" cy="146304"/>
          </a:xfrm>
          <a:prstGeom prst="rect">
            <a:avLst/>
          </a:prstGeom>
          <a:solidFill>
            <a:srgbClr val="C4D0D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715122" y="3163825"/>
            <a:ext cx="508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News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269475" y="3182100"/>
            <a:ext cx="2562300" cy="146400"/>
          </a:xfrm>
          <a:prstGeom prst="rect">
            <a:avLst/>
          </a:prstGeom>
          <a:solidFill>
            <a:srgbClr val="C4D0D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522850" y="3602738"/>
            <a:ext cx="67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Biography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269475" y="3621025"/>
            <a:ext cx="2484900" cy="146400"/>
          </a:xfrm>
          <a:prstGeom prst="rect">
            <a:avLst/>
          </a:prstGeom>
          <a:solidFill>
            <a:srgbClr val="C4D0D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715148" y="4041650"/>
            <a:ext cx="508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Music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269476" y="4059925"/>
            <a:ext cx="2385000" cy="146400"/>
          </a:xfrm>
          <a:prstGeom prst="rect">
            <a:avLst/>
          </a:prstGeom>
          <a:solidFill>
            <a:srgbClr val="C4D0D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989320" y="51663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D6050"/>
                </a:solidFill>
                <a:latin typeface="Arial"/>
                <a:ea typeface="Arial"/>
                <a:cs typeface="Arial"/>
                <a:sym typeface="Arial"/>
              </a:rPr>
              <a:t>Illustrative layout only — replace placeholder bars with actual genre averages.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31595" y="5577960"/>
            <a:ext cx="4663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Interpretation: compare average ratings alongside the number of rated movies or votes; an average alone does not show how reliable the comparison is.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3. Data quality checks &amp; next steps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Clean consistently, exclude missing values rather than imputing them, and document limitations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94360" y="1243584"/>
            <a:ext cx="10972800" cy="41148"/>
          </a:xfrm>
          <a:prstGeom prst="rect">
            <a:avLst/>
          </a:prstGeom>
          <a:solidFill>
            <a:srgbClr val="2396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A697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685800" y="1600200"/>
            <a:ext cx="3383280" cy="13716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85800" y="1600200"/>
            <a:ext cx="82296" cy="1371600"/>
          </a:xfrm>
          <a:prstGeom prst="rect">
            <a:avLst/>
          </a:prstGeom>
          <a:solidFill>
            <a:srgbClr val="2396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886968" y="1764792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Missing values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86968" y="2167128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Exclude rows with null year, genre, or rating for the relevant calculation.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4389120" y="1600200"/>
            <a:ext cx="3383280" cy="13716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89120" y="1600200"/>
            <a:ext cx="82296" cy="1371600"/>
          </a:xfrm>
          <a:prstGeom prst="rect">
            <a:avLst/>
          </a:prstGeom>
          <a:solidFill>
            <a:srgbClr val="2396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4590288" y="1764792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Duplicates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590288" y="2167128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Check duplicate movie IDs and repeated movie records before counting titles.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8092440" y="1600200"/>
            <a:ext cx="3383280" cy="13716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8092440" y="1600200"/>
            <a:ext cx="82296" cy="1371600"/>
          </a:xfrm>
          <a:prstGeom prst="rect">
            <a:avLst/>
          </a:prstGeom>
          <a:solidFill>
            <a:srgbClr val="2396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8293608" y="1764792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Standardize genres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293608" y="2167128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Trim whitespace and split multi-genre values consistently before grouping.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685800" y="3337560"/>
            <a:ext cx="3383280" cy="13716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85800" y="3337560"/>
            <a:ext cx="82296" cy="1371600"/>
          </a:xfrm>
          <a:prstGeom prst="rect">
            <a:avLst/>
          </a:prstGeom>
          <a:solidFill>
            <a:srgbClr val="346EB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886968" y="3502152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Validate ranges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86968" y="3904487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Check years (2010–2019), ratings (expected IMDb scale), runtime, and vote counts.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4389120" y="3337560"/>
            <a:ext cx="3383280" cy="13716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4389120" y="3337560"/>
            <a:ext cx="82296" cy="1371600"/>
          </a:xfrm>
          <a:prstGeom prst="rect">
            <a:avLst/>
          </a:prstGeom>
          <a:solidFill>
            <a:srgbClr val="346EB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4590288" y="3502152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Data types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590288" y="3904487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Convert year, runtime, rating, and votes to numeric types where needed.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8092440" y="3337560"/>
            <a:ext cx="3383280" cy="13716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092440" y="3337560"/>
            <a:ext cx="82296" cy="1371600"/>
          </a:xfrm>
          <a:prstGeom prst="rect">
            <a:avLst/>
          </a:prstGeom>
          <a:solidFill>
            <a:srgbClr val="346EB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8293608" y="3502152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Coverage / bias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293608" y="3904487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32D3A"/>
                </a:solidFill>
                <a:latin typeface="Arial"/>
                <a:ea typeface="Arial"/>
                <a:cs typeface="Arial"/>
                <a:sym typeface="Arial"/>
              </a:rPr>
              <a:t>Record sample sizes; popular titles may receive many more votes than niche titles.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731520" y="5486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62743"/>
                </a:solidFill>
                <a:latin typeface="Arial"/>
                <a:ea typeface="Arial"/>
                <a:cs typeface="Arial"/>
                <a:sym typeface="Arial"/>
              </a:rPr>
              <a:t>Decision rule: report only patterns supported by the query results; do not claim that genre causes a higher rating.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